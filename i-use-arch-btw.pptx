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Fjalla One"/>
      <p:regular r:id="rId27"/>
    </p:embeddedFont>
    <p:embeddedFont>
      <p:font typeface="Barlow Semi Condensed Medium"/>
      <p:regular r:id="rId28"/>
      <p:bold r:id="rId29"/>
      <p:italic r:id="rId30"/>
      <p:boldItalic r:id="rId31"/>
    </p:embeddedFont>
    <p:embeddedFont>
      <p:font typeface="Proxima Nova Semibold"/>
      <p:regular r:id="rId32"/>
      <p:bold r:id="rId33"/>
      <p:boldItalic r:id="rId34"/>
    </p:embeddedFont>
    <p:embeddedFont>
      <p:font typeface="Barlow Semi Condense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BarlowSemiCondensedMedium-regular.fntdata"/><Relationship Id="rId27" Type="http://schemas.openxmlformats.org/officeDocument/2006/relationships/font" Target="fonts/Fjall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Medium-boldItalic.fntdata"/><Relationship Id="rId30" Type="http://schemas.openxmlformats.org/officeDocument/2006/relationships/font" Target="fonts/BarlowSemiCondensedMedium-italic.fntdata"/><Relationship Id="rId11" Type="http://schemas.openxmlformats.org/officeDocument/2006/relationships/slide" Target="slides/slide6.xml"/><Relationship Id="rId33" Type="http://schemas.openxmlformats.org/officeDocument/2006/relationships/font" Target="fonts/ProximaNovaSemibold-bold.fntdata"/><Relationship Id="rId10" Type="http://schemas.openxmlformats.org/officeDocument/2006/relationships/slide" Target="slides/slide5.xml"/><Relationship Id="rId32" Type="http://schemas.openxmlformats.org/officeDocument/2006/relationships/font" Target="fonts/ProximaNova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BarlowSemiCondensed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BarlowSemiCondensed-italic.fntdata"/><Relationship Id="rId14" Type="http://schemas.openxmlformats.org/officeDocument/2006/relationships/slide" Target="slides/slide9.xml"/><Relationship Id="rId36" Type="http://schemas.openxmlformats.org/officeDocument/2006/relationships/font" Target="fonts/BarlowSemiCondense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BarlowSemiCondensed-boldItalic.fntdata"/><Relationship Id="rId19" Type="http://schemas.openxmlformats.org/officeDocument/2006/relationships/font" Target="fonts/ProximaNov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254a42d3d6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254a42d3d6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2254cde2c0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2254cde2c0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2254a42d3d6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254a42d3d6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8728718f4e_1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8728718f4e_1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8714a43093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8714a43093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881d70bc0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881d70bc0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2254cde2c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2254cde2c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254cde2c0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254cde2c0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8714a43093_5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8714a43093_5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254a42d3d6_18_1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254a42d3d6_18_1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684" name="Google Shape;1684;p3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4300975" y="1575950"/>
            <a:ext cx="4138200" cy="10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 Use Arch BTW!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Here is where your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presentation begins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pic>
        <p:nvPicPr>
          <p:cNvPr id="1886" name="Google Shape;18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5030">
            <a:off x="6123075" y="2749723"/>
            <a:ext cx="2389875" cy="23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6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Linux</a:t>
            </a:r>
            <a:endParaRPr sz="4700"/>
          </a:p>
        </p:txBody>
      </p:sp>
      <p:sp>
        <p:nvSpPr>
          <p:cNvPr id="1892" name="Google Shape;1892;p36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93" name="Google Shape;1893;p36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Linux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37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</a:t>
            </a:r>
            <a:endParaRPr/>
          </a:p>
        </p:txBody>
      </p:sp>
      <p:sp>
        <p:nvSpPr>
          <p:cNvPr id="1899" name="Google Shape;1899;p37"/>
          <p:cNvSpPr txBox="1"/>
          <p:nvPr>
            <p:ph idx="1" type="subTitle"/>
          </p:nvPr>
        </p:nvSpPr>
        <p:spPr>
          <a:xfrm>
            <a:off x="1709928" y="16215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F1F1F1"/>
                </a:highlight>
                <a:latin typeface="Arial"/>
                <a:ea typeface="Arial"/>
                <a:cs typeface="Arial"/>
                <a:sym typeface="Arial"/>
              </a:rPr>
              <a:t>Absolutely Free</a:t>
            </a:r>
            <a:endParaRPr b="1" sz="1300">
              <a:solidFill>
                <a:srgbClr val="00000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0" name="Google Shape;1900;p37"/>
          <p:cNvSpPr txBox="1"/>
          <p:nvPr>
            <p:ph idx="2" type="subTitle"/>
          </p:nvPr>
        </p:nvSpPr>
        <p:spPr>
          <a:xfrm>
            <a:off x="1709924" y="1938525"/>
            <a:ext cx="22953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Linux is </a:t>
            </a:r>
            <a:r>
              <a:rPr lang="en" sz="1600"/>
              <a:t>a free operating system with the open source community at its backbone.</a:t>
            </a:r>
            <a:endParaRPr sz="1600"/>
          </a:p>
        </p:txBody>
      </p:sp>
      <p:sp>
        <p:nvSpPr>
          <p:cNvPr id="1901" name="Google Shape;1901;p37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F1F1F1"/>
                </a:highlight>
                <a:latin typeface="Arial"/>
                <a:ea typeface="Arial"/>
                <a:cs typeface="Arial"/>
                <a:sym typeface="Arial"/>
              </a:rPr>
              <a:t>Revive Old Computer</a:t>
            </a:r>
            <a:endParaRPr b="1" sz="1300">
              <a:solidFill>
                <a:srgbClr val="00000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2" name="Google Shape;1902;p37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F1F1F1"/>
                </a:highlight>
                <a:latin typeface="Arial"/>
                <a:ea typeface="Arial"/>
                <a:cs typeface="Arial"/>
                <a:sym typeface="Arial"/>
              </a:rPr>
              <a:t>Safe &amp; Secure</a:t>
            </a:r>
            <a:endParaRPr b="1" sz="1300">
              <a:solidFill>
                <a:srgbClr val="00000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3" name="Google Shape;1903;p37"/>
          <p:cNvSpPr txBox="1"/>
          <p:nvPr>
            <p:ph idx="6" type="subTitle"/>
          </p:nvPr>
        </p:nvSpPr>
        <p:spPr>
          <a:xfrm>
            <a:off x="2825501" y="3593600"/>
            <a:ext cx="22185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Linux is extremely secure due to its open source nature and niche market</a:t>
            </a:r>
            <a:endParaRPr sz="1300">
              <a:solidFill>
                <a:srgbClr val="40404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37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F1F1F1"/>
                </a:highlight>
                <a:latin typeface="Arial"/>
                <a:ea typeface="Arial"/>
                <a:cs typeface="Arial"/>
                <a:sym typeface="Arial"/>
              </a:rPr>
              <a:t>Customization</a:t>
            </a:r>
            <a:endParaRPr b="1" sz="1300">
              <a:solidFill>
                <a:srgbClr val="00000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5" name="Google Shape;1905;p37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06" name="Google Shape;1906;p37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can customise your linux machine in any way you see fit.</a:t>
            </a:r>
            <a:endParaRPr sz="1300">
              <a:solidFill>
                <a:srgbClr val="404040"/>
              </a:solidFill>
              <a:highlight>
                <a:srgbClr val="F1F1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37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08" name="Google Shape;1908;p37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09" name="Google Shape;1909;p37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10" name="Google Shape;1910;p37"/>
          <p:cNvSpPr txBox="1"/>
          <p:nvPr>
            <p:ph idx="2" type="subTitle"/>
          </p:nvPr>
        </p:nvSpPr>
        <p:spPr>
          <a:xfrm>
            <a:off x="5591749" y="1817500"/>
            <a:ext cx="22953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Linux can run on Computers with very low specifications.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5" name="Google Shape;1915;p38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1916" name="Google Shape;1916;p38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8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8" name="Google Shape;1918;p38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 Linux</a:t>
            </a:r>
            <a:r>
              <a:rPr lang="en"/>
              <a:t>	</a:t>
            </a:r>
            <a:endParaRPr/>
          </a:p>
        </p:txBody>
      </p:sp>
      <p:sp>
        <p:nvSpPr>
          <p:cNvPr id="1919" name="Google Shape;1919;p38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Arch Linux is an independent Linux distribution that adheres to the principles of simplicity, modernity, pragmatism, user centrality, and versatility.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920" name="Google Shape;19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425" y="526925"/>
            <a:ext cx="1679150" cy="1679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39"/>
          <p:cNvSpPr txBox="1"/>
          <p:nvPr>
            <p:ph type="title"/>
          </p:nvPr>
        </p:nvSpPr>
        <p:spPr>
          <a:xfrm>
            <a:off x="1782525" y="1481350"/>
            <a:ext cx="6003300" cy="30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What’s So special about Arch !</a:t>
            </a:r>
            <a:endParaRPr sz="6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0" name="Google Shape;1930;p40"/>
          <p:cNvGrpSpPr/>
          <p:nvPr/>
        </p:nvGrpSpPr>
        <p:grpSpPr>
          <a:xfrm>
            <a:off x="2831975" y="526925"/>
            <a:ext cx="4225432" cy="1145100"/>
            <a:chOff x="2771600" y="526920"/>
            <a:chExt cx="3480300" cy="1145100"/>
          </a:xfrm>
        </p:grpSpPr>
        <p:sp>
          <p:nvSpPr>
            <p:cNvPr id="1931" name="Google Shape;1931;p40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highlight>
                  <a:schemeClr val="lt1"/>
                </a:highlight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700">
                  <a:highlight>
                    <a:schemeClr val="lt1"/>
                  </a:highlight>
                </a:rPr>
                <a:t>The DIY approach gives you control over every aspect of your operating system</a:t>
              </a:r>
              <a:endParaRPr sz="900"/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accent1"/>
                </a:solidFill>
              </a:endParaRPr>
            </a:p>
          </p:txBody>
        </p:sp>
      </p:grpSp>
      <p:grpSp>
        <p:nvGrpSpPr>
          <p:cNvPr id="1933" name="Google Shape;1933;p40"/>
          <p:cNvGrpSpPr/>
          <p:nvPr/>
        </p:nvGrpSpPr>
        <p:grpSpPr>
          <a:xfrm>
            <a:off x="2867661" y="3471476"/>
            <a:ext cx="4225432" cy="1012154"/>
            <a:chOff x="2771600" y="526920"/>
            <a:chExt cx="3480300" cy="1145100"/>
          </a:xfrm>
        </p:grpSpPr>
        <p:sp>
          <p:nvSpPr>
            <p:cNvPr id="1934" name="Google Shape;1934;p40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highlight>
                    <a:schemeClr val="lt1"/>
                  </a:highlight>
                </a:rPr>
                <a:t>It’s always updated with the latest software and security patches</a:t>
              </a:r>
              <a:endParaRPr b="1" sz="1700">
                <a:highlight>
                  <a:srgbClr val="FFFFFF"/>
                </a:highlight>
              </a:endParaRPr>
            </a:p>
          </p:txBody>
        </p:sp>
      </p:grpSp>
      <p:grpSp>
        <p:nvGrpSpPr>
          <p:cNvPr id="1936" name="Google Shape;1936;p40"/>
          <p:cNvGrpSpPr/>
          <p:nvPr/>
        </p:nvGrpSpPr>
        <p:grpSpPr>
          <a:xfrm>
            <a:off x="2831836" y="1866275"/>
            <a:ext cx="4225432" cy="1145100"/>
            <a:chOff x="2771600" y="526920"/>
            <a:chExt cx="3480300" cy="1145100"/>
          </a:xfrm>
        </p:grpSpPr>
        <p:sp>
          <p:nvSpPr>
            <p:cNvPr id="1937" name="Google Shape;1937;p40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2832789" y="624270"/>
              <a:ext cx="3357900" cy="95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highlight>
                    <a:srgbClr val="FFFFFF"/>
                  </a:highlight>
                </a:rPr>
                <a:t>Arch is created, supported and owned by the community</a:t>
              </a:r>
              <a:endParaRPr sz="1700">
                <a:highlight>
                  <a:srgbClr val="FFFFFF"/>
                </a:highlight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41"/>
          <p:cNvSpPr txBox="1"/>
          <p:nvPr>
            <p:ph type="title"/>
          </p:nvPr>
        </p:nvSpPr>
        <p:spPr>
          <a:xfrm>
            <a:off x="2434274" y="1540375"/>
            <a:ext cx="46557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42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Overview</a:t>
            </a:r>
            <a:endParaRPr/>
          </a:p>
        </p:txBody>
      </p:sp>
      <p:sp>
        <p:nvSpPr>
          <p:cNvPr id="1949" name="Google Shape;1949;p42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0" name="Google Shape;1950;p42"/>
          <p:cNvSpPr txBox="1"/>
          <p:nvPr/>
        </p:nvSpPr>
        <p:spPr>
          <a:xfrm>
            <a:off x="4281250" y="1404075"/>
            <a:ext cx="2524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Install Essential Packages and generate the fstab file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1" name="Google Shape;1951;p42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Partition the disk and mount the filesystems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2" name="Google Shape;1952;p42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Install a bootloader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53" name="Google Shape;1953;p42"/>
          <p:cNvGrpSpPr/>
          <p:nvPr/>
        </p:nvGrpSpPr>
        <p:grpSpPr>
          <a:xfrm>
            <a:off x="1620199" y="2106974"/>
            <a:ext cx="5900364" cy="1517351"/>
            <a:chOff x="1621724" y="2106974"/>
            <a:chExt cx="5900364" cy="1517351"/>
          </a:xfrm>
        </p:grpSpPr>
        <p:grpSp>
          <p:nvGrpSpPr>
            <p:cNvPr id="1954" name="Google Shape;1954;p42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1955" name="Google Shape;1955;p42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6" name="Google Shape;1956;p42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7" name="Google Shape;1957;p42"/>
              <p:cNvCxnSpPr>
                <a:stCxn id="1958" idx="6"/>
                <a:endCxn id="1959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60" name="Google Shape;1960;p42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61" name="Google Shape;1961;p42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1959" name="Google Shape;1959;p42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42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63" name="Google Shape;1963;p42"/>
            <p:cNvCxnSpPr>
              <a:stCxn id="1964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65" name="Google Shape;1965;p42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1966" name="Google Shape;1966;p42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42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67" name="Google Shape;1967;p42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68" name="Google Shape;1968;p42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1969" name="Google Shape;1969;p42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42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71" name="Google Shape;1971;p42"/>
            <p:cNvCxnSpPr>
              <a:stCxn id="1972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73" name="Google Shape;1973;p42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1958" name="Google Shape;1958;p42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42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4" name="Google Shape;1974;p42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8" name="Google Shape;1978;p42"/>
          <p:cNvSpPr txBox="1"/>
          <p:nvPr/>
        </p:nvSpPr>
        <p:spPr>
          <a:xfrm>
            <a:off x="1698751" y="2723900"/>
            <a:ext cx="832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79" name="Google Shape;1979;p42"/>
          <p:cNvSpPr txBox="1"/>
          <p:nvPr/>
        </p:nvSpPr>
        <p:spPr>
          <a:xfrm>
            <a:off x="3283376" y="2744225"/>
            <a:ext cx="880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80" name="Google Shape;1980;p42"/>
          <p:cNvSpPr txBox="1"/>
          <p:nvPr/>
        </p:nvSpPr>
        <p:spPr>
          <a:xfrm>
            <a:off x="4974551" y="2744225"/>
            <a:ext cx="832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81" name="Google Shape;1981;p42"/>
          <p:cNvSpPr txBox="1"/>
          <p:nvPr/>
        </p:nvSpPr>
        <p:spPr>
          <a:xfrm>
            <a:off x="6516151" y="2744225"/>
            <a:ext cx="1025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82" name="Google Shape;1982;p42"/>
          <p:cNvSpPr txBox="1"/>
          <p:nvPr/>
        </p:nvSpPr>
        <p:spPr>
          <a:xfrm>
            <a:off x="1005450" y="143497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Establish a Network Connection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43"/>
          <p:cNvSpPr txBox="1"/>
          <p:nvPr>
            <p:ph type="title"/>
          </p:nvPr>
        </p:nvSpPr>
        <p:spPr>
          <a:xfrm>
            <a:off x="1807675" y="338325"/>
            <a:ext cx="61233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Obstacles I encountered during the install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43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43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3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3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43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Initially i tried using systemd boot but later switched to grub to simplify things.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3" name="Google Shape;1993;p43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created a config file for iwd and followed a thread i found on archwiki.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4" name="Google Shape;1994;p43"/>
          <p:cNvSpPr txBox="1"/>
          <p:nvPr>
            <p:ph idx="3" type="subTitle"/>
          </p:nvPr>
        </p:nvSpPr>
        <p:spPr>
          <a:xfrm>
            <a:off x="4993148" y="1586517"/>
            <a:ext cx="2084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Bootloader</a:t>
            </a:r>
            <a:endParaRPr sz="1800"/>
          </a:p>
        </p:txBody>
      </p:sp>
      <p:sp>
        <p:nvSpPr>
          <p:cNvPr id="1995" name="Google Shape;1995;p43"/>
          <p:cNvSpPr txBox="1"/>
          <p:nvPr>
            <p:ph idx="4" type="subTitle"/>
          </p:nvPr>
        </p:nvSpPr>
        <p:spPr>
          <a:xfrm>
            <a:off x="2097876" y="1586517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Getting wireless connectivity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44"/>
          <p:cNvSpPr txBox="1"/>
          <p:nvPr>
            <p:ph idx="1" type="body"/>
          </p:nvPr>
        </p:nvSpPr>
        <p:spPr>
          <a:xfrm>
            <a:off x="1572250" y="765950"/>
            <a:ext cx="3564300" cy="3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Arch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Dwm 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Dwmblocks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Dmenu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Pywall to get matching colour theme for the terminal and taskbar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 terminal 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 blurred transparent effect on the terminal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 startup script which ran on boot to setup everything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Zsh syntax highlighting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Paru as an AUR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-342900" lvl="0" marL="457200" marR="508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Char char="●"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Tabliss and pywalfox for firefox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01" name="Google Shape;2001;p4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Custom Setup</a:t>
            </a:r>
            <a:endParaRPr/>
          </a:p>
        </p:txBody>
      </p:sp>
      <p:pic>
        <p:nvPicPr>
          <p:cNvPr id="2002" name="Google Shape;20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425" y="1019425"/>
            <a:ext cx="2876852" cy="215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45"/>
          <p:cNvSpPr txBox="1"/>
          <p:nvPr>
            <p:ph idx="4294967295" type="title"/>
          </p:nvPr>
        </p:nvSpPr>
        <p:spPr>
          <a:xfrm>
            <a:off x="1105175" y="111225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BIG PROBLEM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45"/>
          <p:cNvSpPr txBox="1"/>
          <p:nvPr>
            <p:ph idx="4294967295" type="body"/>
          </p:nvPr>
        </p:nvSpPr>
        <p:spPr>
          <a:xfrm>
            <a:off x="1220500" y="12998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i was trying to set a theme for discord it kept crashing when i clicked on the open theme folder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decided that I should install a file manager for the system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Hence I installed Dolphin and qt5ct to do the same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system suddenly crashed and threw me into an emergency environment and I couldn’t boot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4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What I learnt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46"/>
          <p:cNvSpPr txBox="1"/>
          <p:nvPr>
            <p:ph idx="1" type="subTitle"/>
          </p:nvPr>
        </p:nvSpPr>
        <p:spPr>
          <a:xfrm>
            <a:off x="1674000" y="1963400"/>
            <a:ext cx="63621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learnt the basic structure of linux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essence of what it takes for an operating system to run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to customise configuration files according to my liking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basic bash scripting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lot of bash commands (eg, chmod, cat, echo, cp, mv,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most importantly,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read through wikis and forums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47"/>
          <p:cNvSpPr txBox="1"/>
          <p:nvPr>
            <p:ph idx="4294967295" type="title"/>
          </p:nvPr>
        </p:nvSpPr>
        <p:spPr>
          <a:xfrm>
            <a:off x="2101400" y="175369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 You!</a:t>
            </a:r>
            <a:endParaRPr sz="7200"/>
          </a:p>
        </p:txBody>
      </p:sp>
      <p:sp>
        <p:nvSpPr>
          <p:cNvPr id="2020" name="Google Shape;2020;p47"/>
          <p:cNvSpPr txBox="1"/>
          <p:nvPr>
            <p:ph idx="4294967295" type="subTitle"/>
          </p:nvPr>
        </p:nvSpPr>
        <p:spPr>
          <a:xfrm>
            <a:off x="2673650" y="4233275"/>
            <a:ext cx="37932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=</a:t>
            </a:r>
            <a:endParaRPr sz="11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